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(Microsoft Learn): "Common web application architectures" — learn.microsoft.com/dotnet/architecture/modern-web-apps-azure/common-web-application-architectures (N-layer critique + Clean Architecture; cites Robert C. Martin, "The Clean Architecture"). "Architectural principles" — .../modern-web-apps-azure/architectural-principles. "Implementing the microservice application layer using the Web API" — .../microservices/microservice-ddd-cqrs-patterns/microservice-application-layer-implementation-web-api. Also: R.C. Martin, "Functional Design" (2023) — FP + SOLID + patterns = more scalable systems; "The Clean Coder" (2011) — TDD as a minimum discipline.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00200"/>
            <a:ext cx="822960" cy="146304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828800"/>
            <a:ext cx="384048" cy="146304"/>
          </a:xfrm>
          <a:prstGeom prst="rect">
            <a:avLst/>
          </a:prstGeom>
          <a:solidFill>
            <a:srgbClr val="E0A3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BACKEND ARCHITECTURE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Designing Atlas Validation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pluggable, scalable system — functional commands &amp; async validation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4526280"/>
            <a:ext cx="5760720" cy="0"/>
          </a:xfrm>
          <a:prstGeom prst="line">
            <a:avLst/>
          </a:prstGeom>
          <a:noFill/>
          <a:ln w="19050">
            <a:solidFill>
              <a:srgbClr val="1B34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6634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equity · private credit · liquid ETFs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· illiquid + liquid · downstream of upstream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8AA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design review · June 2026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Functional commands over classic validation chains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this hour runs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109087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82296" cy="566928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728216"/>
            <a:ext cx="402336" cy="402336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1728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1645920"/>
            <a:ext cx="9720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   </a:t>
            </a:r>
            <a:pPr indent="0" marL="0">
              <a:buNone/>
            </a:pPr>
            <a:r>
              <a:rPr lang="en-US" sz="13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of upstreams that change; the async hinge; built for 5+ years.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109087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304288"/>
            <a:ext cx="82296" cy="566928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12" name="Shape 10"/>
          <p:cNvSpPr/>
          <p:nvPr/>
        </p:nvSpPr>
        <p:spPr>
          <a:xfrm>
            <a:off x="877824" y="2386584"/>
            <a:ext cx="402336" cy="402336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2386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2304288"/>
            <a:ext cx="9720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classic stack    </a:t>
            </a:r>
            <a:pPr indent="0" marL="0">
              <a:buNone/>
            </a:pPr>
            <a:r>
              <a:rPr lang="en-US" sz="13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familiar styles + the N-tier cake — and why they stop scaling.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2962656"/>
            <a:ext cx="109087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962656"/>
            <a:ext cx="82296" cy="566928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17" name="Shape 15"/>
          <p:cNvSpPr/>
          <p:nvPr/>
        </p:nvSpPr>
        <p:spPr>
          <a:xfrm>
            <a:off x="877824" y="3044952"/>
            <a:ext cx="402336" cy="402336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18" name="Text 16"/>
          <p:cNvSpPr/>
          <p:nvPr/>
        </p:nvSpPr>
        <p:spPr>
          <a:xfrm>
            <a:off x="877824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2962656"/>
            <a:ext cx="9720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functional core    </a:t>
            </a:r>
            <a:pPr indent="0" marL="0">
              <a:buNone/>
            </a:pPr>
            <a:r>
              <a:rPr lang="en-US" sz="13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→ rules → validator → handler: a small owned core.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3621024"/>
            <a:ext cx="109087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621024"/>
            <a:ext cx="82296" cy="566928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22" name="Shape 20"/>
          <p:cNvSpPr/>
          <p:nvPr/>
        </p:nvSpPr>
        <p:spPr>
          <a:xfrm>
            <a:off x="877824" y="3703320"/>
            <a:ext cx="402336" cy="402336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23" name="Text 21"/>
          <p:cNvSpPr/>
          <p:nvPr/>
        </p:nvSpPr>
        <p:spPr>
          <a:xfrm>
            <a:off x="877824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54480" y="3621024"/>
            <a:ext cx="9720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Pluggable &amp; scalable    </a:t>
            </a:r>
            <a:pPr indent="0" marL="0">
              <a:buNone/>
            </a:pPr>
            <a:r>
              <a:rPr lang="en-US" sz="13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&amp; adapters, the one-line upstream swap, a 2nd feature on the same core.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4279392"/>
            <a:ext cx="109087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4279392"/>
            <a:ext cx="82296" cy="566928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27" name="Shape 25"/>
          <p:cNvSpPr/>
          <p:nvPr/>
        </p:nvSpPr>
        <p:spPr>
          <a:xfrm>
            <a:off x="877824" y="4361688"/>
            <a:ext cx="402336" cy="402336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28" name="Text 26"/>
          <p:cNvSpPr/>
          <p:nvPr/>
        </p:nvSpPr>
        <p:spPr>
          <a:xfrm>
            <a:off x="877824" y="4361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54480" y="4279392"/>
            <a:ext cx="9720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&amp; trade-offs    </a:t>
            </a:r>
            <a:pPr indent="0" marL="0">
              <a:buNone/>
            </a:pPr>
            <a:r>
              <a:rPr lang="en-US" sz="13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numbers, the right tool per job, operability, honest costs.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0080" y="4992624"/>
            <a:ext cx="10908792" cy="530352"/>
          </a:xfrm>
          <a:prstGeom prst="rect">
            <a:avLst/>
          </a:prstGeom>
          <a:solidFill>
            <a:srgbClr val="0F2143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14400" y="4992624"/>
            <a:ext cx="10360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Atlas on functional commands.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Functional commands over classic validation chains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822960" cy="146304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057400"/>
            <a:ext cx="384048" cy="146304"/>
          </a:xfrm>
          <a:prstGeom prst="rect">
            <a:avLst/>
          </a:prstGeom>
          <a:solidFill>
            <a:srgbClr val="E0A3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957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3931920"/>
            <a:ext cx="4572000" cy="0"/>
          </a:xfrm>
          <a:prstGeom prst="line">
            <a:avLst/>
          </a:prstGeom>
          <a:noFill/>
          <a:ln w="25400">
            <a:solidFill>
              <a:srgbClr val="1FA9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5660136"/>
            <a:ext cx="1962302" cy="54864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806440"/>
            <a:ext cx="1962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problem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76702" y="5660136"/>
            <a:ext cx="1962302" cy="54864"/>
          </a:xfrm>
          <a:prstGeom prst="rect">
            <a:avLst/>
          </a:prstGeom>
          <a:solidFill>
            <a:srgbClr val="2B3F63"/>
          </a:solidFill>
          <a:ln/>
        </p:spPr>
      </p:sp>
      <p:sp>
        <p:nvSpPr>
          <p:cNvPr id="10" name="Text 8"/>
          <p:cNvSpPr/>
          <p:nvPr/>
        </p:nvSpPr>
        <p:spPr>
          <a:xfrm>
            <a:off x="2876702" y="5806440"/>
            <a:ext cx="1962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The classic stack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113325" y="5660136"/>
            <a:ext cx="1962302" cy="54864"/>
          </a:xfrm>
          <a:prstGeom prst="rect">
            <a:avLst/>
          </a:prstGeom>
          <a:solidFill>
            <a:srgbClr val="2B3F63"/>
          </a:solidFill>
          <a:ln/>
        </p:spPr>
      </p:sp>
      <p:sp>
        <p:nvSpPr>
          <p:cNvPr id="12" name="Text 10"/>
          <p:cNvSpPr/>
          <p:nvPr/>
        </p:nvSpPr>
        <p:spPr>
          <a:xfrm>
            <a:off x="5113325" y="5806440"/>
            <a:ext cx="1962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 functional core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49947" y="5660136"/>
            <a:ext cx="1962302" cy="54864"/>
          </a:xfrm>
          <a:prstGeom prst="rect">
            <a:avLst/>
          </a:prstGeom>
          <a:solidFill>
            <a:srgbClr val="2B3F63"/>
          </a:solidFill>
          <a:ln/>
        </p:spPr>
      </p:sp>
      <p:sp>
        <p:nvSpPr>
          <p:cNvPr id="14" name="Text 12"/>
          <p:cNvSpPr/>
          <p:nvPr/>
        </p:nvSpPr>
        <p:spPr>
          <a:xfrm>
            <a:off x="7349947" y="5806440"/>
            <a:ext cx="1962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Pluggable &amp; scalable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586570" y="5660136"/>
            <a:ext cx="1962302" cy="54864"/>
          </a:xfrm>
          <a:prstGeom prst="rect">
            <a:avLst/>
          </a:prstGeom>
          <a:solidFill>
            <a:srgbClr val="2B3F63"/>
          </a:solidFill>
          <a:ln/>
        </p:spPr>
      </p:sp>
      <p:sp>
        <p:nvSpPr>
          <p:cNvPr id="16" name="Text 14"/>
          <p:cNvSpPr/>
          <p:nvPr/>
        </p:nvSpPr>
        <p:spPr>
          <a:xfrm>
            <a:off x="9586570" y="5806440"/>
            <a:ext cx="1962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Proof &amp; trade-offs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&amp; THE STAKES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Atlas must do — and why structure is not a detail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application to construct and govern funds across the full liquidity spectrum — and keep every decision auditable.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212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48840"/>
            <a:ext cx="82296" cy="3657600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Atlas has to do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2743200"/>
            <a:ext cx="64008" cy="6035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743200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both worlds  </a:t>
            </a:r>
            <a:pPr indent="0" marL="0">
              <a:buNone/>
            </a:pPr>
            <a:r>
              <a:rPr lang="en-US" sz="120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&amp; private credit alongside liquid ETFs.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14400" y="3493008"/>
            <a:ext cx="64008" cy="6035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493008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regions  </a:t>
            </a:r>
            <a:pPr indent="0" marL="0">
              <a:buNone/>
            </a:pPr>
            <a:r>
              <a:rPr lang="en-US" sz="120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NA, EMEA, APAC, LATAM — each its own appetite.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4400" y="4242816"/>
            <a:ext cx="64008" cy="603504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242816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&amp; govern  </a:t>
            </a:r>
            <a:pPr indent="0" marL="0">
              <a:buNone/>
            </a:pPr>
            <a:r>
              <a:rPr lang="en-US" sz="120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books, enforce headroom, appetite, deal-state.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14400" y="4992624"/>
            <a:ext cx="64008" cy="603504"/>
          </a:xfrm>
          <a:prstGeom prst="rect">
            <a:avLst/>
          </a:prstGeom>
          <a:solidFill>
            <a:srgbClr val="E0A33B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992624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of upstream  </a:t>
            </a:r>
            <a:pPr indent="0" marL="0">
              <a:buNone/>
            </a:pPr>
            <a:r>
              <a:rPr lang="en-US" sz="120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no source data; composes upstream answers.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09360" y="2148840"/>
            <a:ext cx="523951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2148840"/>
            <a:ext cx="82296" cy="3657600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228600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A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code structure decides it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2743200"/>
            <a:ext cx="46908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is first-class — answer not just “pass/fail” but “why, against what.”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is mostly async — rules read upstream exposure, appetite, deal &amp; fund state.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set only grows — new asset classes, regions and policies arrive continuously.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0" y="4892040"/>
            <a:ext cx="469087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5029200"/>
            <a:ext cx="4690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we design against:  </a:t>
            </a:r>
            <a:pPr indent="0" marL="0">
              <a:buNone/>
            </a:pPr>
            <a:r>
              <a:rPr lang="en-US" sz="120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async logic, rules that can’t be tested alone, and no record of why a commitment was accepted or rejected — the “Frankenstein” Atlas cannot afford.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Functional commands over classic validation chains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HINGE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Atlas validation is async and business-heavy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one operation — commit capital to a co-investment. Five of its six rules must read upstream state. That single fact decides the architecture.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084832"/>
            <a:ext cx="10908792" cy="525780"/>
          </a:xfrm>
          <a:prstGeom prst="rect">
            <a:avLst/>
          </a:prstGeom>
          <a:solidFill>
            <a:srgbClr val="1B3460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84832"/>
            <a:ext cx="38404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Structural shape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219227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44607F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219227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629400" y="2084832"/>
            <a:ext cx="469087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&gt; 0, currency code, date, ids present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660904"/>
            <a:ext cx="10908792" cy="525780"/>
          </a:xfrm>
          <a:prstGeom prst="rect">
            <a:avLst/>
          </a:prstGeom>
          <a:solidFill>
            <a:srgbClr val="1B3460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660904"/>
            <a:ext cx="38404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Fund is Open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37760" y="276834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0A33B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76834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1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I/O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629400" y="2660904"/>
            <a:ext cx="469087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book of record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236976"/>
            <a:ext cx="10908792" cy="525780"/>
          </a:xfrm>
          <a:prstGeom prst="rect">
            <a:avLst/>
          </a:prstGeom>
          <a:solidFill>
            <a:srgbClr val="1B3460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236976"/>
            <a:ext cx="38404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Currency permitted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334441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0A33B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34441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1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I/O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29400" y="3236976"/>
            <a:ext cx="469087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fund’s permitted-currency list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3813048"/>
            <a:ext cx="10908792" cy="525780"/>
          </a:xfrm>
          <a:prstGeom prst="rect">
            <a:avLst/>
          </a:prstGeom>
          <a:solidFill>
            <a:srgbClr val="1B3460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813048"/>
            <a:ext cx="38404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Deal investable &amp; matches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37760" y="392049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0A33B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92049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1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I/O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29400" y="3813048"/>
            <a:ext cx="469087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pipeline state + investable window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4389120"/>
            <a:ext cx="10908792" cy="525780"/>
          </a:xfrm>
          <a:prstGeom prst="rect">
            <a:avLst/>
          </a:prstGeom>
          <a:solidFill>
            <a:srgbClr val="1B3460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389120"/>
            <a:ext cx="38404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Co-investment headroom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937760" y="449656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0A33B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449656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1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I/O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629400" y="4389120"/>
            <a:ext cx="469087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node cap vs. already committed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965192"/>
            <a:ext cx="10908792" cy="525780"/>
          </a:xfrm>
          <a:prstGeom prst="rect">
            <a:avLst/>
          </a:prstGeom>
          <a:solidFill>
            <a:srgbClr val="1B3460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4965192"/>
            <a:ext cx="38404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Within appetite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937760" y="507263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0A33B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507263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1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I/O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629400" y="4965192"/>
            <a:ext cx="469087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engine + appetite policy store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40080" y="5943600"/>
            <a:ext cx="10908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DataAnnotations / IValidatableObject are synchronous. </a:t>
            </a:r>
            <a:pPr algn="ctr" indent="0" marL="0">
              <a:buNone/>
            </a:pPr>
            <a:r>
              <a:rPr lang="en-US" sz="1350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cannot await any of rules 2–6 — so business validation cannot live there.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Functional commands over classic validation chains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822960" cy="146304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057400"/>
            <a:ext cx="384048" cy="146304"/>
          </a:xfrm>
          <a:prstGeom prst="rect">
            <a:avLst/>
          </a:prstGeom>
          <a:solidFill>
            <a:srgbClr val="E0A3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957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classic ways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3931920"/>
            <a:ext cx="4572000" cy="0"/>
          </a:xfrm>
          <a:prstGeom prst="line">
            <a:avLst/>
          </a:prstGeom>
          <a:noFill/>
          <a:ln w="25400">
            <a:solidFill>
              <a:srgbClr val="1FA9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5660136"/>
            <a:ext cx="1962302" cy="54864"/>
          </a:xfrm>
          <a:prstGeom prst="rect">
            <a:avLst/>
          </a:prstGeom>
          <a:solidFill>
            <a:srgbClr val="2B3F6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806440"/>
            <a:ext cx="1962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problem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76702" y="5660136"/>
            <a:ext cx="1962302" cy="54864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10" name="Text 8"/>
          <p:cNvSpPr/>
          <p:nvPr/>
        </p:nvSpPr>
        <p:spPr>
          <a:xfrm>
            <a:off x="2876702" y="5806440"/>
            <a:ext cx="1962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The classic stack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113325" y="5660136"/>
            <a:ext cx="1962302" cy="54864"/>
          </a:xfrm>
          <a:prstGeom prst="rect">
            <a:avLst/>
          </a:prstGeom>
          <a:solidFill>
            <a:srgbClr val="2B3F63"/>
          </a:solidFill>
          <a:ln/>
        </p:spPr>
      </p:sp>
      <p:sp>
        <p:nvSpPr>
          <p:cNvPr id="12" name="Text 10"/>
          <p:cNvSpPr/>
          <p:nvPr/>
        </p:nvSpPr>
        <p:spPr>
          <a:xfrm>
            <a:off x="5113325" y="5806440"/>
            <a:ext cx="1962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 functional core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49947" y="5660136"/>
            <a:ext cx="1962302" cy="54864"/>
          </a:xfrm>
          <a:prstGeom prst="rect">
            <a:avLst/>
          </a:prstGeom>
          <a:solidFill>
            <a:srgbClr val="2B3F63"/>
          </a:solidFill>
          <a:ln/>
        </p:spPr>
      </p:sp>
      <p:sp>
        <p:nvSpPr>
          <p:cNvPr id="14" name="Text 12"/>
          <p:cNvSpPr/>
          <p:nvPr/>
        </p:nvSpPr>
        <p:spPr>
          <a:xfrm>
            <a:off x="7349947" y="5806440"/>
            <a:ext cx="1962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Pluggable &amp; scalable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586570" y="5660136"/>
            <a:ext cx="1962302" cy="54864"/>
          </a:xfrm>
          <a:prstGeom prst="rect">
            <a:avLst/>
          </a:prstGeom>
          <a:solidFill>
            <a:srgbClr val="2B3F63"/>
          </a:solidFill>
          <a:ln/>
        </p:spPr>
      </p:sp>
      <p:sp>
        <p:nvSpPr>
          <p:cNvPr id="16" name="Text 14"/>
          <p:cNvSpPr/>
          <p:nvPr/>
        </p:nvSpPr>
        <p:spPr>
          <a:xfrm>
            <a:off x="9586570" y="5806440"/>
            <a:ext cx="1962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Proof &amp; trade-offs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APPROACH 1 OF 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Annotations + a fat async service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532120" cy="3931920"/>
          </a:xfrm>
          <a:prstGeom prst="rect">
            <a:avLst/>
          </a:prstGeom>
          <a:solidFill>
            <a:srgbClr val="0C1A30"/>
          </a:solidFill>
          <a:ln w="12700">
            <a:solidFill>
              <a:srgbClr val="2035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938528"/>
            <a:ext cx="5202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Model/CommitCapitalRequest.cs + Validation/CommitCapitalService.cs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212848"/>
            <a:ext cx="5202936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sealed class CommitCapitalRequest {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[Required] public string FundId {get;set;}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[Range(1, max)] public decimal Amount {...}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[CurrencyCode] public string Currency {...}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[NotPastDate] public DateOnly Date {...}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shape only. rules 2-6 need upstream, so: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service.ValidateAndCommitAsync(req);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-&gt; Validator.TryValidateObject(...)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-&gt; then a long if-chain of awaits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37960" y="1828800"/>
            <a:ext cx="501091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1828800"/>
            <a:ext cx="82296" cy="3931920"/>
          </a:xfrm>
          <a:prstGeom prst="rect">
            <a:avLst/>
          </a:prstGeom>
          <a:solidFill>
            <a:srgbClr val="E0A33B"/>
          </a:solidFill>
          <a:ln/>
        </p:spPr>
      </p:sp>
      <p:sp>
        <p:nvSpPr>
          <p:cNvPr id="10" name="Text 8"/>
          <p:cNvSpPr/>
          <p:nvPr/>
        </p:nvSpPr>
        <p:spPr>
          <a:xfrm>
            <a:off x="6793992" y="1965960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tell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93992" y="2423160"/>
            <a:ext cx="450799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brain: shape in attributes, real rules in a service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can’t await — business logic moves out anyway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can’t take runtime context (the “today” hack)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buried in an if-chain are hard to test alone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per-rule audit record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793992" y="5440680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B: 2 / 2 errors · Scenario C: 10 / 10 — aggregates well, but only because the service was hand-written to.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Functional commands over classic validation chains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APPROACH 2 OF 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Facade + adapter chaining (the DMS style)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532120" cy="3931920"/>
          </a:xfrm>
          <a:prstGeom prst="rect">
            <a:avLst/>
          </a:prstGeom>
          <a:solidFill>
            <a:srgbClr val="0C1A30"/>
          </a:solidFill>
          <a:ln w="12700">
            <a:solidFill>
              <a:srgbClr val="2035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938528"/>
            <a:ext cx="5202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856 lines · 12 files · for one operation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212848"/>
            <a:ext cx="5202936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CommitmentFacade.SubmitCommitmentAsync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pf  = await _funds.LoadAsync(id);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_funds.EnsureOpen(pf);        // rule 2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_funds.EnsureCurrency(pf, cur);// rule 3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deal = await _deals.LoadAsync(id);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_deals.EnsureInvestable(deal, ...); // rule 4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node = await _coInv.LoadAsync(id);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_coInv.EnsureHeadroom(node, ...);   // rule 5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ap = await _appetite             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.LoadForBucketAsync(...);  // -&gt; ExposureGw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_appetite.EnsureWithinLimit(ap, ...);// rule 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37960" y="1828800"/>
            <a:ext cx="501091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1828800"/>
            <a:ext cx="82296" cy="393192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0" name="Text 8"/>
          <p:cNvSpPr/>
          <p:nvPr/>
        </p:nvSpPr>
        <p:spPr>
          <a:xfrm>
            <a:off x="6793992" y="1965960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tell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93992" y="2423160"/>
            <a:ext cx="450799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chains: facade → gateway → gateway → client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rules scattered across five files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upstream change ripples through the gateways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breach throws → you never see the rest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3–4 layers just to test one rule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793992" y="5440680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B: 1 / 2 errors — the appetite breach is lost to the short-circuit.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Functional commands over classic validation chains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BLOAT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feature, two worlds — the layer cake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3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 N-tier — every feature pays the full tax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4937760" cy="365760"/>
          </a:xfrm>
          <a:prstGeom prst="rect">
            <a:avLst/>
          </a:prstGeom>
          <a:solidFill>
            <a:srgbClr val="F4E4DB"/>
          </a:solidFill>
          <a:ln w="9525">
            <a:solidFill>
              <a:srgbClr val="E0C4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148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(+ model binding)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4937760" cy="365760"/>
          </a:xfrm>
          <a:prstGeom prst="rect">
            <a:avLst/>
          </a:prstGeom>
          <a:solidFill>
            <a:srgbClr val="F4E4DB"/>
          </a:solidFill>
          <a:ln w="9525">
            <a:solidFill>
              <a:srgbClr val="E0C4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560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DTO + DataAnnotations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4937760" cy="365760"/>
          </a:xfrm>
          <a:prstGeom prst="rect">
            <a:avLst/>
          </a:prstGeom>
          <a:solidFill>
            <a:srgbClr val="F4E4DB"/>
          </a:solidFill>
          <a:ln w="9525">
            <a:solidFill>
              <a:srgbClr val="E0C4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971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  (DTO → domain)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4937760" cy="365760"/>
          </a:xfrm>
          <a:prstGeom prst="rect">
            <a:avLst/>
          </a:prstGeom>
          <a:solidFill>
            <a:srgbClr val="F4E4DB"/>
          </a:solidFill>
          <a:ln w="9525">
            <a:solidFill>
              <a:srgbClr val="E0C4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3383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 (god orchestration)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4937760" cy="365760"/>
          </a:xfrm>
          <a:prstGeom prst="rect">
            <a:avLst/>
          </a:prstGeom>
          <a:solidFill>
            <a:srgbClr val="F4E4DB"/>
          </a:solidFill>
          <a:ln w="9525">
            <a:solidFill>
              <a:srgbClr val="E0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3794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ValidatorFactory → Validator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4937760" cy="365760"/>
          </a:xfrm>
          <a:prstGeom prst="rect">
            <a:avLst/>
          </a:prstGeom>
          <a:solidFill>
            <a:srgbClr val="F4E4DB"/>
          </a:solidFill>
          <a:ln w="9525">
            <a:solidFill>
              <a:srgbClr val="E0C4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4206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×4 (+ Entities + mappers)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617720"/>
            <a:ext cx="4937760" cy="365760"/>
          </a:xfrm>
          <a:prstGeom prst="rect">
            <a:avLst/>
          </a:prstGeom>
          <a:solidFill>
            <a:srgbClr val="F4E4DB"/>
          </a:solidFill>
          <a:ln w="9525">
            <a:solidFill>
              <a:srgbClr val="E0C4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4617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config + config factory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029200"/>
            <a:ext cx="4937760" cy="365760"/>
          </a:xfrm>
          <a:prstGeom prst="rect">
            <a:avLst/>
          </a:prstGeom>
          <a:solidFill>
            <a:srgbClr val="F4E4DB"/>
          </a:solidFill>
          <a:ln w="9525">
            <a:solidFill>
              <a:srgbClr val="E0C4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5029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→ upstream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5440680"/>
            <a:ext cx="4937760" cy="365760"/>
          </a:xfrm>
          <a:prstGeom prst="rect">
            <a:avLst/>
          </a:prstGeom>
          <a:solidFill>
            <a:srgbClr val="F4E4DB"/>
          </a:solidFill>
          <a:ln w="9525">
            <a:solidFill>
              <a:srgbClr val="E0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5440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  (domain → response DTO)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46520" y="1755648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— a command on a shared core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46520" y="2286000"/>
            <a:ext cx="5102352" cy="603504"/>
          </a:xfrm>
          <a:prstGeom prst="roundRect">
            <a:avLst>
              <a:gd name="adj" fmla="val 10606"/>
            </a:avLst>
          </a:prstGeom>
          <a:solidFill>
            <a:srgbClr val="1FA97A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01384" y="2286000"/>
            <a:ext cx="4992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 (immutable record)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46520" y="3127248"/>
            <a:ext cx="5102352" cy="603504"/>
          </a:xfrm>
          <a:prstGeom prst="roundRect">
            <a:avLst>
              <a:gd name="adj" fmla="val 10606"/>
            </a:avLst>
          </a:prstGeom>
          <a:solidFill>
            <a:srgbClr val="1FA97A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01384" y="3127248"/>
            <a:ext cx="4992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/ Spec  (the business logic)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46520" y="3968496"/>
            <a:ext cx="5102352" cy="603504"/>
          </a:xfrm>
          <a:prstGeom prst="roundRect">
            <a:avLst>
              <a:gd name="adj" fmla="val 10606"/>
            </a:avLst>
          </a:prstGeom>
          <a:solidFill>
            <a:srgbClr val="1FA97A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01384" y="3968496"/>
            <a:ext cx="4992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 (thin: validate → execute)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46520" y="4809744"/>
            <a:ext cx="5102352" cy="603504"/>
          </a:xfrm>
          <a:prstGeom prst="roundRect">
            <a:avLst>
              <a:gd name="adj" fmla="val 10606"/>
            </a:avLst>
          </a:prstGeom>
          <a:solidFill>
            <a:srgbClr val="0F2143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01384" y="4809744"/>
            <a:ext cx="4992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+ owned Core  (written once)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A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layers · 29 files per feature</a:t>
            </a:r>
            <a:pPr algn="ctr" indent="0" marL="0">
              <a:buNone/>
            </a:pPr>
            <a:r>
              <a:rPr lang="en-US" sz="115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vs   </a:t>
            </a:r>
            <a:pPr algn="ctr" indent="0" marL="0">
              <a:buNone/>
            </a:pPr>
            <a:r>
              <a:rPr lang="en-US" sz="1150" b="1" dirty="0">
                <a:solidFill>
                  <a:srgbClr val="1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files (command · spec · handler) on a core written once.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Functional commands over classic validation chains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822960" cy="146304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057400"/>
            <a:ext cx="384048" cy="146304"/>
          </a:xfrm>
          <a:prstGeom prst="rect">
            <a:avLst/>
          </a:prstGeom>
          <a:solidFill>
            <a:srgbClr val="E0A3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957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functional core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3931920"/>
            <a:ext cx="4572000" cy="0"/>
          </a:xfrm>
          <a:prstGeom prst="line">
            <a:avLst/>
          </a:prstGeom>
          <a:noFill/>
          <a:ln w="25400">
            <a:solidFill>
              <a:srgbClr val="1FA9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5660136"/>
            <a:ext cx="1962302" cy="54864"/>
          </a:xfrm>
          <a:prstGeom prst="rect">
            <a:avLst/>
          </a:prstGeom>
          <a:solidFill>
            <a:srgbClr val="2B3F6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806440"/>
            <a:ext cx="1962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problem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76702" y="5660136"/>
            <a:ext cx="1962302" cy="54864"/>
          </a:xfrm>
          <a:prstGeom prst="rect">
            <a:avLst/>
          </a:prstGeom>
          <a:solidFill>
            <a:srgbClr val="2B3F63"/>
          </a:solidFill>
          <a:ln/>
        </p:spPr>
      </p:sp>
      <p:sp>
        <p:nvSpPr>
          <p:cNvPr id="10" name="Text 8"/>
          <p:cNvSpPr/>
          <p:nvPr/>
        </p:nvSpPr>
        <p:spPr>
          <a:xfrm>
            <a:off x="2876702" y="5806440"/>
            <a:ext cx="1962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The classic stack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113325" y="5660136"/>
            <a:ext cx="1962302" cy="54864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12" name="Text 10"/>
          <p:cNvSpPr/>
          <p:nvPr/>
        </p:nvSpPr>
        <p:spPr>
          <a:xfrm>
            <a:off x="5113325" y="5806440"/>
            <a:ext cx="1962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 functional core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49947" y="5660136"/>
            <a:ext cx="1962302" cy="54864"/>
          </a:xfrm>
          <a:prstGeom prst="rect">
            <a:avLst/>
          </a:prstGeom>
          <a:solidFill>
            <a:srgbClr val="2B3F63"/>
          </a:solidFill>
          <a:ln/>
        </p:spPr>
      </p:sp>
      <p:sp>
        <p:nvSpPr>
          <p:cNvPr id="14" name="Text 12"/>
          <p:cNvSpPr/>
          <p:nvPr/>
        </p:nvSpPr>
        <p:spPr>
          <a:xfrm>
            <a:off x="7349947" y="5806440"/>
            <a:ext cx="1962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Pluggable &amp; scalable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586570" y="5660136"/>
            <a:ext cx="1962302" cy="54864"/>
          </a:xfrm>
          <a:prstGeom prst="rect">
            <a:avLst/>
          </a:prstGeom>
          <a:solidFill>
            <a:srgbClr val="2B3F63"/>
          </a:solidFill>
          <a:ln/>
        </p:spPr>
      </p:sp>
      <p:sp>
        <p:nvSpPr>
          <p:cNvPr id="16" name="Text 14"/>
          <p:cNvSpPr/>
          <p:nvPr/>
        </p:nvSpPr>
        <p:spPr>
          <a:xfrm>
            <a:off x="9586570" y="5806440"/>
            <a:ext cx="1962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Proof &amp; trade-offs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LIBRARIES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functional core the team owns outright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pieces + a declarative Spec — ~470 lines of plain C#. No FluentValidation. No MediatR. No Serilog. Nothing to be coupled to.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271516" cy="1078992"/>
          </a:xfrm>
          <a:prstGeom prst="rect">
            <a:avLst/>
          </a:prstGeom>
          <a:solidFill>
            <a:srgbClr val="1B3460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48840"/>
            <a:ext cx="82296" cy="1078992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95144"/>
            <a:ext cx="4768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/ Result&lt;T&gt;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4768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success, or a set of errors; Combine aggregates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7356" y="2148840"/>
            <a:ext cx="5271516" cy="1078992"/>
          </a:xfrm>
          <a:prstGeom prst="rect">
            <a:avLst/>
          </a:prstGeom>
          <a:solidFill>
            <a:srgbClr val="1B3460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77356" y="2148840"/>
            <a:ext cx="82296" cy="1078992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12" name="Text 10"/>
          <p:cNvSpPr/>
          <p:nvPr/>
        </p:nvSpPr>
        <p:spPr>
          <a:xfrm>
            <a:off x="6551676" y="2295144"/>
            <a:ext cx="4768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51676" y="2697480"/>
            <a:ext cx="4768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error is data (code, message, field) — not an exception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5271516" cy="1078992"/>
          </a:xfrm>
          <a:prstGeom prst="rect">
            <a:avLst/>
          </a:prstGeom>
          <a:solidFill>
            <a:srgbClr val="1B3460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392424"/>
            <a:ext cx="82296" cy="1078992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538728"/>
            <a:ext cx="4768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Rule&lt;T&gt;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3941064"/>
            <a:ext cx="4768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async rule as a value you can test &amp; compose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77356" y="3392424"/>
            <a:ext cx="5271516" cy="1078992"/>
          </a:xfrm>
          <a:prstGeom prst="rect">
            <a:avLst/>
          </a:prstGeom>
          <a:solidFill>
            <a:srgbClr val="1B3460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7356" y="3392424"/>
            <a:ext cx="82296" cy="1078992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20" name="Text 18"/>
          <p:cNvSpPr/>
          <p:nvPr/>
        </p:nvSpPr>
        <p:spPr>
          <a:xfrm>
            <a:off x="6551676" y="3538728"/>
            <a:ext cx="4768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Validator&lt;T&gt;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51676" y="3941064"/>
            <a:ext cx="4768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rules, aggregates every error, builds the trace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636008"/>
            <a:ext cx="5271516" cy="1078992"/>
          </a:xfrm>
          <a:prstGeom prst="rect">
            <a:avLst/>
          </a:prstGeom>
          <a:solidFill>
            <a:srgbClr val="1B3460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636008"/>
            <a:ext cx="82296" cy="1078992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782312"/>
            <a:ext cx="4768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DecisionTrace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" y="5184648"/>
            <a:ext cx="4768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trading-grade audit record → System.Text.Json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77356" y="4636008"/>
            <a:ext cx="5271516" cy="1078992"/>
          </a:xfrm>
          <a:prstGeom prst="rect">
            <a:avLst/>
          </a:prstGeom>
          <a:solidFill>
            <a:srgbClr val="1B3460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77356" y="4636008"/>
            <a:ext cx="82296" cy="1078992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28" name="Text 26"/>
          <p:cNvSpPr/>
          <p:nvPr/>
        </p:nvSpPr>
        <p:spPr>
          <a:xfrm>
            <a:off x="6551676" y="4782312"/>
            <a:ext cx="4768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CommandHandler&lt;,&gt;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551676" y="5184648"/>
            <a:ext cx="4768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pipeline: validate → (if approved) execute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Functional commands over classic validation chains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rule — buried vs. owned; errors are data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394960" cy="3611880"/>
          </a:xfrm>
          <a:prstGeom prst="rect">
            <a:avLst/>
          </a:prstGeom>
          <a:solidFill>
            <a:srgbClr val="0C1A30"/>
          </a:solidFill>
          <a:ln w="12700">
            <a:solidFill>
              <a:srgbClr val="2035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847088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Classic · a fragment in a ~180-line method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121408"/>
            <a:ext cx="5065776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rule 6 of 6, deep inside one Validate(),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after 5 rules, on a prefetched _ctx: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limit = _ctx.Limits.FirstOrDefault(l =&gt;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l.AssetClass == input.AssetClass &amp;&amp;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l.Region == input.Region);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(limit is null)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result.AddError("No appetite configured…");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{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c = _ctx.Exposure.CommittedIn(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input.AssetClass, input.Region);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(c + input.Amount &gt; limit.MaxAmount)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result.AddError("Appetite breach…"); 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55080" y="1737360"/>
            <a:ext cx="5193792" cy="3611880"/>
          </a:xfrm>
          <a:prstGeom prst="rect">
            <a:avLst/>
          </a:prstGeom>
          <a:solidFill>
            <a:srgbClr val="0C1A30"/>
          </a:solidFill>
          <a:ln w="12700">
            <a:solidFill>
              <a:srgbClr val="2035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9672" y="1847088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Functional · its own file, fetches its own data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19672" y="2121408"/>
            <a:ext cx="4864608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Rule&lt;CommitCapitalCommand&gt;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CommitmentMustBeWithinAppetite(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IAppetiteClient appetite,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IExposureClient exposure) =&gt; new(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"CommitmentMustBeWithinAppetite",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Kind: RuleKind.Upstream,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Check: async (cmd, ct) =&gt; {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lim = (await appetite.GetLimitsAsync(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cmd.FundId, ct)).FirstOrDefault(…);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c = (await exposure.GetExposureAsync(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cmd.FundId, ct)).CommittedIn(…);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 + cmd.Amount &gt; lim.MaxAmount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? new Error("APPETITE_BREACH", …)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: Result.Success(); }));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5532120"/>
            <a:ext cx="1090879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5532120"/>
            <a:ext cx="82296" cy="868680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605272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logic. </a:t>
            </a:r>
            <a:pPr indent="0" marL="0">
              <a:buNone/>
            </a:pPr>
            <a:r>
              <a:rPr lang="en-US" sz="115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functional rule is a named value you open, test, and reason about alone — and </a:t>
            </a:r>
            <a:pPr indent="0" marL="0">
              <a:buNone/>
            </a:pPr>
            <a:r>
              <a:rPr lang="en-US" sz="11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values you aggregate</a:t>
            </a:r>
            <a:pPr indent="0" marL="0">
              <a:buNone/>
            </a:pPr>
            <a:r>
              <a:rPr lang="en-US" sz="115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Result / Error / Combine collect ALL of them — routable to a UI field, serializable into the audit record, never thrown, never swallowed.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Functional commands over classic validation chains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BETTER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request, same breaches — two different answers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440680" cy="3611880"/>
          </a:xfrm>
          <a:prstGeom prst="rect">
            <a:avLst/>
          </a:prstGeom>
          <a:solidFill>
            <a:srgbClr val="0C1A30"/>
          </a:solidFill>
          <a:ln w="12700">
            <a:solidFill>
              <a:srgbClr val="2035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847088"/>
            <a:ext cx="5111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Classic · first throw wins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121408"/>
            <a:ext cx="5111496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AdapterChaining · rules 2–6 share one try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_funds.EnsureOpen(pf);          // rule 2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_coInv.EnsureHeadroom(node, amt);    // rule 5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 headroom short → throws → STOP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_appetite.EnsureWithinLimit(ap, …);  // rule 6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 never runs → appetite breach unseen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 (CommitmentValidationException e) {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Fail(e.Message);    // ONE message out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0" y="1737360"/>
            <a:ext cx="5148072" cy="3611880"/>
          </a:xfrm>
          <a:prstGeom prst="rect">
            <a:avLst/>
          </a:prstGeom>
          <a:solidFill>
            <a:srgbClr val="0C1A30"/>
          </a:solidFill>
          <a:ln w="12700">
            <a:solidFill>
              <a:srgbClr val="2035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65392" y="1847088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Functional · aggregate, never hide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65392" y="2121408"/>
            <a:ext cx="4818888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Validator · run every rule, then combine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done = await Task.WhenAll(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_rules.Select(r =&gt; RunAsync(r, cmd, ct)));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result = Result.Combine(     // ALL errors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done.Select(e =&gt; e.Result));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throwing rule becomes data — never a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short-circuit that hides the others: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 (Exception ex) =&gt;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Result.Fail(new Error("RULE_THREW", …));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5532120"/>
            <a:ext cx="1090879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5532120"/>
            <a:ext cx="82296" cy="868680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605272"/>
            <a:ext cx="10360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 — headroom AND appetite breached:  </a:t>
            </a:r>
            <a:pPr indent="0" marL="0">
              <a:buNone/>
            </a:pPr>
            <a:r>
              <a:rPr lang="en-US" sz="115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reports </a:t>
            </a:r>
            <a:pPr indent="0" marL="0">
              <a:buNone/>
            </a:pPr>
            <a:r>
              <a:rPr lang="en-US" sz="11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2</a:t>
            </a:r>
            <a:pPr indent="0" marL="0">
              <a:buNone/>
            </a:pPr>
            <a:r>
              <a:rPr lang="en-US" sz="115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validator reports </a:t>
            </a:r>
            <a:pPr indent="0" marL="0">
              <a:buNone/>
            </a:pPr>
            <a:r>
              <a:rPr lang="en-US" sz="1150" b="1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2</a:t>
            </a:r>
            <a:pPr indent="0" marL="0">
              <a:buNone/>
            </a:pPr>
            <a:r>
              <a:rPr lang="en-US" sz="115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a per-rule trace. Same inputs — `dotnet run` each sample to measure it.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Functional commands over classic validation chains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decision trail, without a logging library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6126480" cy="3931920"/>
          </a:xfrm>
          <a:prstGeom prst="rect">
            <a:avLst/>
          </a:prstGeom>
          <a:solidFill>
            <a:srgbClr val="0C1A30"/>
          </a:solidFill>
          <a:ln w="12700">
            <a:solidFill>
              <a:srgbClr val="2035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938528"/>
            <a:ext cx="579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Core/DecisionTrace.cs · in-box System.Text.Json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212848"/>
            <a:ext cx="5797296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"CorrelationId": "SCN-B",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"Command": "CommitCapitalCommand",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"Entries": [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"Rule": "CoInvestmentMustHaveHeadroom",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"Outcome": "Failed", "ElapsedMs": 5.9,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"Messages": ["[COINVEST_NO_HEADROOM] ..."] },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"Rule": "CommitmentMustBeWithinAppetite",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"Outcome": "Failed", ... } ],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"Passed": 4, "Failed": 2, "Approved": false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0" y="187452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 trading audit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132320" y="2377440"/>
            <a:ext cx="441655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rule, its outcome, its timing, its messages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“why was this accepted / rejected?”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data — write it to a file, DB, event, or topic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shape; no Serilog, no sink lock-in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breaches captured — nothing short-circuited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Functional commands over classic validation chains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approval — ExecuteAsync is the only place that writes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669280" cy="3794760"/>
          </a:xfrm>
          <a:prstGeom prst="rect">
            <a:avLst/>
          </a:prstGeom>
          <a:solidFill>
            <a:srgbClr val="0C1A30"/>
          </a:solidFill>
          <a:ln w="12700">
            <a:solidFill>
              <a:srgbClr val="2035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892808"/>
            <a:ext cx="5340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 → (only if approved) → execute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167128"/>
            <a:ext cx="5340096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Core/CommandHandler.cs — execute runs ONLY if approved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(validation, trace) = await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Validator&lt;T&gt;(Rules(cmd))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.ValidateAsync(cmd, correlationId, ct);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(validation.IsFailure)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Fail(validation.Errors, trace);  // no write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executed = await ExecuteAsync(cmd, ct); // ← the write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Ok(executed, trace);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629400" y="1783080"/>
            <a:ext cx="4919472" cy="3794760"/>
          </a:xfrm>
          <a:prstGeom prst="rect">
            <a:avLst/>
          </a:prstGeom>
          <a:solidFill>
            <a:srgbClr val="0C1A30"/>
          </a:solidFill>
          <a:ln w="12700">
            <a:solidFill>
              <a:srgbClr val="2035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93992" y="1892808"/>
            <a:ext cx="4590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port write · idempotent · concurrency-checked · event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793992" y="2167128"/>
            <a:ext cx="4590288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CommitCapitalHandler.ExecuteAsync — the shape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override async Task&lt;Result&lt;Receipt&gt;&gt;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ExecuteAsync(CommitCapitalCommand cmd, …) {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key = cmd.IdempotencyKey();   // safe retries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receipt = await commitments.RecordAsync(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cmd, key, expectedVersion, ct); // 409 → reject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events.PublishAsync(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new CapitalCommitted(receipt), ct);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Result.Success(receipt);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5669280"/>
            <a:ext cx="1090879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5669280"/>
            <a:ext cx="82296" cy="749808"/>
          </a:xfrm>
          <a:prstGeom prst="rect">
            <a:avLst/>
          </a:prstGeom>
          <a:solidFill>
            <a:srgbClr val="E0A33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742432"/>
            <a:ext cx="10360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+ trace are the hard part — and they're proven. </a:t>
            </a:r>
            <a:pPr indent="0" marL="0">
              <a:buNone/>
            </a:pPr>
            <a:r>
              <a:rPr lang="en-US" sz="110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upstream is read-only, so ExecuteAsync returns a receipt; in production it's a thin write behind a port (idempotency key, optimistic-concurrency check, emitted event). The rules and trace above don't change.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Functional commands over classic validation chains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822960" cy="146304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057400"/>
            <a:ext cx="384048" cy="146304"/>
          </a:xfrm>
          <a:prstGeom prst="rect">
            <a:avLst/>
          </a:prstGeom>
          <a:solidFill>
            <a:srgbClr val="E0A3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957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Pluggable &amp; scalable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3931920"/>
            <a:ext cx="4572000" cy="0"/>
          </a:xfrm>
          <a:prstGeom prst="line">
            <a:avLst/>
          </a:prstGeom>
          <a:noFill/>
          <a:ln w="25400">
            <a:solidFill>
              <a:srgbClr val="1FA9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5660136"/>
            <a:ext cx="1962302" cy="54864"/>
          </a:xfrm>
          <a:prstGeom prst="rect">
            <a:avLst/>
          </a:prstGeom>
          <a:solidFill>
            <a:srgbClr val="2B3F6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806440"/>
            <a:ext cx="1962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problem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76702" y="5660136"/>
            <a:ext cx="1962302" cy="54864"/>
          </a:xfrm>
          <a:prstGeom prst="rect">
            <a:avLst/>
          </a:prstGeom>
          <a:solidFill>
            <a:srgbClr val="2B3F63"/>
          </a:solidFill>
          <a:ln/>
        </p:spPr>
      </p:sp>
      <p:sp>
        <p:nvSpPr>
          <p:cNvPr id="10" name="Text 8"/>
          <p:cNvSpPr/>
          <p:nvPr/>
        </p:nvSpPr>
        <p:spPr>
          <a:xfrm>
            <a:off x="2876702" y="5806440"/>
            <a:ext cx="1962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The classic stack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113325" y="5660136"/>
            <a:ext cx="1962302" cy="54864"/>
          </a:xfrm>
          <a:prstGeom prst="rect">
            <a:avLst/>
          </a:prstGeom>
          <a:solidFill>
            <a:srgbClr val="2B3F63"/>
          </a:solidFill>
          <a:ln/>
        </p:spPr>
      </p:sp>
      <p:sp>
        <p:nvSpPr>
          <p:cNvPr id="12" name="Text 10"/>
          <p:cNvSpPr/>
          <p:nvPr/>
        </p:nvSpPr>
        <p:spPr>
          <a:xfrm>
            <a:off x="5113325" y="5806440"/>
            <a:ext cx="1962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 functional core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49947" y="5660136"/>
            <a:ext cx="1962302" cy="54864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14" name="Text 12"/>
          <p:cNvSpPr/>
          <p:nvPr/>
        </p:nvSpPr>
        <p:spPr>
          <a:xfrm>
            <a:off x="7349947" y="5806440"/>
            <a:ext cx="1962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Pluggable &amp; scalable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586570" y="5660136"/>
            <a:ext cx="1962302" cy="54864"/>
          </a:xfrm>
          <a:prstGeom prst="rect">
            <a:avLst/>
          </a:prstGeom>
          <a:solidFill>
            <a:srgbClr val="2B3F63"/>
          </a:solidFill>
          <a:ln/>
        </p:spPr>
      </p:sp>
      <p:sp>
        <p:nvSpPr>
          <p:cNvPr id="16" name="Text 14"/>
          <p:cNvSpPr/>
          <p:nvPr/>
        </p:nvSpPr>
        <p:spPr>
          <a:xfrm>
            <a:off x="9586570" y="5806440"/>
            <a:ext cx="1962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Proof &amp; trade-offs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SEAM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Ports &amp; adapters — the upstream is pluggable by design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08792" cy="914400"/>
        </p:xfrm>
        <a:graphic>
          <a:graphicData uri="http://schemas.openxmlformats.org/drawingml/2006/table">
            <a:tbl>
              <a:tblPr/>
              <a:tblGrid>
                <a:gridCol w="3611880"/>
                <a:gridCol w="4297680"/>
                <a:gridCol w="299923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— the stable contract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Adapter today (swap me)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Upstream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4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4E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IFundClient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DmsFundClient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4E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IDealClient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CrmDealClient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4E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ICoInvestmentClient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CrmCoInvestmentClient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4E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IAppetiteClient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PolicyHubAppetiteClient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PolicyHub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4E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IExposureClient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LedgerExposureClient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44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532120"/>
            <a:ext cx="1090879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5532120"/>
            <a:ext cx="82296" cy="868680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5605272"/>
            <a:ext cx="10360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handlers depend on the LEFT column only. </a:t>
            </a:r>
            <a:pPr indent="0" marL="0">
              <a:buNone/>
            </a:pPr>
            <a:r>
              <a:rPr lang="en-US" sz="115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adapter is the one file that knows its upstream's shape. Replace the CRM → X: a new adapter + one line at the composition root — the ports, rules and handlers never move.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Functional commands over classic validation chains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Swap an upstream in one line — nothing else moves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806440" cy="3794760"/>
          </a:xfrm>
          <a:prstGeom prst="rect">
            <a:avLst/>
          </a:prstGeom>
          <a:solidFill>
            <a:srgbClr val="0C1A30"/>
          </a:solidFill>
          <a:ln w="12700">
            <a:solidFill>
              <a:srgbClr val="2035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892808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 PORT ← SOURCE, in one place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167128"/>
            <a:ext cx="5477256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Composition/ — the ONE place a source is named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sealed class InMemoryUpstream : IUpstream {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InMemoryUpstream() {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data = SeedData.Build();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Funds    = new DmsFundClient(data);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Deals         = new CrmDealClient(data);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CoInvestments = new CrmCoInvestmentClient(data);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Appetite      = new PolicyHubAppetiteClient(data);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Exposure      = new LedgerExposureClient(data);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tomorrow: Deals = new NextGenDealsClient(…);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               //          ↑ one line, done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766560" y="1783080"/>
            <a:ext cx="4782312" cy="3794760"/>
          </a:xfrm>
          <a:prstGeom prst="rect">
            <a:avLst/>
          </a:prstGeom>
          <a:solidFill>
            <a:srgbClr val="0C1A30"/>
          </a:solidFill>
          <a:ln w="12700">
            <a:solidFill>
              <a:srgbClr val="2035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31152" y="1892808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= contract · adapter = the only mapper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931152" y="2167128"/>
            <a:ext cx="4453128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stable contract a rule depends on: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IFundClient {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Task&lt;FundSnapshot?&gt; GetFundAsync(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id, CancellationToken ct = default);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ONLY file that knows the DMS shape: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sealed class DmsFundClient(SeedData d)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IFundClient {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Task&lt;FundSnapshot?&gt; GetFundAsync(…)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map DMS record → FundSnapshot (here)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=&gt; …;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5669280"/>
            <a:ext cx="1090879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5669280"/>
            <a:ext cx="82296" cy="749808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742432"/>
            <a:ext cx="10360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 is the contract; the adapter is the only place that knows the upstream. </a:t>
            </a:r>
            <a:pPr indent="0" marL="0">
              <a:buNone/>
            </a:pPr>
            <a:r>
              <a:rPr lang="en-US" sz="11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a source — one line. Rules and handlers compile unchanged.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Functional commands over classic validation chains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new feature reuses the whole core — add, don't rebuild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989320" cy="3794760"/>
          </a:xfrm>
          <a:prstGeom prst="rect">
            <a:avLst/>
          </a:prstGeom>
          <a:solidFill>
            <a:srgbClr val="0C1A30"/>
          </a:solidFill>
          <a:ln w="12700">
            <a:solidFill>
              <a:srgbClr val="2035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892808"/>
            <a:ext cx="5660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CommandHandler&lt;,&gt;, Validator, DecisionTrace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167128"/>
            <a:ext cx="5660136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brand-new feature: deal-stage lifecycle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sealed class AdvanceDealStageHandler(IUpstream up)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CommandHandler&lt;AdvanceDealStageCommand,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DealStageReceipt&gt; {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protected override IEnumerable&lt;Rule&lt;…&gt;&gt; Rules(cmd) =&gt;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AdvanceDealStageRules.Structural(),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AdvanceDealStageRules.TransitionMustBeValid(up.Deals),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protected override Task&lt;Result&lt;…&gt;&gt; ExecuteAsync(…)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=&gt; /* record the transition */;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949440" y="1783080"/>
            <a:ext cx="4599432" cy="3794760"/>
          </a:xfrm>
          <a:prstGeom prst="rect">
            <a:avLst/>
          </a:prstGeom>
          <a:solidFill>
            <a:srgbClr val="0C1A30"/>
          </a:solidFill>
          <a:ln w="12700">
            <a:solidFill>
              <a:srgbClr val="2035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14032" y="1892808"/>
            <a:ext cx="4270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DealStageMachine — state machine as data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114032" y="2167128"/>
            <a:ext cx="4270248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lifecycle is DATA, not a switch tangle: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readonly IReadOnlyDictionary&lt;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DealStatus, DealStatus[]&gt; Allowed = new() {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[Pipeline]   = [Investable, Withdrawn],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[Investable] = [Closed, Withdrawn],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[Closed]     = [],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[Withdrawn]  = [],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 a stage or an edge here —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command, rule and handler don't change.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5669280"/>
            <a:ext cx="1090879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5669280"/>
            <a:ext cx="82296" cy="749808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742432"/>
            <a:ext cx="10360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feature = +1 command, +2 rules, +1 handler. </a:t>
            </a:r>
            <a:pPr indent="0" marL="0">
              <a:buNone/>
            </a:pPr>
            <a:r>
              <a:rPr lang="en-US" sz="115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changes to the Core, the Validator or the DecisionTrace. The pattern scales by adding pieces, never by editing shared ones.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Functional commands over classic validation chains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generic pipeline — adding a rule is +1 file, +1 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6035040" cy="4114800"/>
          </a:xfrm>
          <a:prstGeom prst="rect">
            <a:avLst/>
          </a:prstGeom>
          <a:solidFill>
            <a:srgbClr val="0C1A30"/>
          </a:solidFill>
          <a:ln w="12700">
            <a:solidFill>
              <a:srgbClr val="2035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92024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Core/CommandHandler.cs — written once, reused by every command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194560"/>
            <a:ext cx="5705856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abstract class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CommandHandler&lt;TCommand, TResult&gt;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 feature implements exactly these two: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protected abstract IEnumerable&lt;Rule&lt;TCommand&gt;&gt;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Rules(TCommand command);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protected abstract Task&lt;Result&lt;TResult&gt;&gt;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ExecuteAsync(TCommand cmd, CancellationToken ct);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async Task&lt;HandlerOutcome&lt;TResult&gt;&gt;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HandleAsync(TCommand cmd, string? cid = null, …) {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(result, trace) = await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new Validator&lt;TCommand&gt;(Rules(cmd))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.ValidateAsync(cmd, cid ??= NewId(), ct);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(result.IsFailure) return Fail(result, trace);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Ok(await ExecuteAsync(cmd, ct), trace);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040880" y="1810512"/>
            <a:ext cx="450799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40880" y="1810512"/>
            <a:ext cx="82296" cy="2331720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10" name="Text 8"/>
          <p:cNvSpPr/>
          <p:nvPr/>
        </p:nvSpPr>
        <p:spPr>
          <a:xfrm>
            <a:off x="7296912" y="1938528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Written once. Reused everywhere.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96912" y="2377440"/>
            <a:ext cx="40050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over &lt;TCommand, TResult&gt; — feature-agnostic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command = a record + its rules + the two methods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→ aggregate → trace is amortized across the app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40880" y="4297680"/>
            <a:ext cx="450799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40880" y="4297680"/>
            <a:ext cx="82296" cy="1627632"/>
          </a:xfrm>
          <a:prstGeom prst="rect">
            <a:avLst/>
          </a:prstGeom>
          <a:solidFill>
            <a:srgbClr val="E0A33B"/>
          </a:solidFill>
          <a:ln/>
        </p:spPr>
      </p:sp>
      <p:sp>
        <p:nvSpPr>
          <p:cNvPr id="14" name="Text 12"/>
          <p:cNvSpPr/>
          <p:nvPr/>
        </p:nvSpPr>
        <p:spPr>
          <a:xfrm>
            <a:off x="7296912" y="4425696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Adding a rule scales linearly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296912" y="4846320"/>
            <a:ext cx="3995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Functional: +1 file, +1 line. </a:t>
            </a:r>
            <a:pPr indent="0" marL="0">
              <a:buNone/>
            </a:pPr>
            <a:r>
              <a:rPr lang="en-US" sz="115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styles edit shared code — a new attribute + service branch, a new gateway + facade edit, or another branch in the ~180-line method. </a:t>
            </a:r>
            <a:pPr indent="0" marL="0">
              <a:buNone/>
            </a:pPr>
            <a:r>
              <a:rPr lang="en-US" sz="11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(O(1)) vs. editing shared code (O(n) risk)</a:t>
            </a:r>
            <a:pPr indent="0" marL="0">
              <a:buNone/>
            </a:pPr>
            <a:r>
              <a:rPr lang="en-US" sz="115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gap compounds as the rule set grows.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Functional commands over classic validation chains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· 5-YEAR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Adding anything stays contained — the axes of change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3840480"/>
                <a:gridCol w="36850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you need to…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— additive (one seam)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— rippling (many places)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4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an upstream source (CRM → 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adapter behind the 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A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rewire gateways + facade + mappers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a model / contract field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record — compiler finds every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A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hunt across DTOs, mappers, adapters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or change a business rule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rule file, +1 line in the handler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A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the ~180-line method / the facade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whole new command / feature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+ rules + handler, reuse 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A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orchestration, copy the plumbing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UI view or element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a slice / panel (data)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A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god components &amp; layouts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policy / language / limit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data (tokens · i18n · appetite)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A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code + redeploy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9788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growth is additive — touch one seam. </a:t>
            </a:r>
            <a:pPr algn="ctr" indent="0" marL="0">
              <a:buNone/>
            </a:pPr>
            <a:r>
              <a:rPr lang="en-US" sz="115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growth is multiplicative — touch many. Repeated across five years of changes, that gap is what keeps the app shipping fast.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Functional commands over classic validation chains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common agreement on structure — not a cage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5029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10512"/>
            <a:ext cx="82296" cy="4023360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568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whole agreement (the seams)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432304"/>
            <a:ext cx="4526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command is just data in.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returns Result — pass, or errors (as values).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handler = which rules + what to do on success.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aggregate; the decision trace is automatic.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~470 lines you own — change it if it doesn't fit.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810512"/>
            <a:ext cx="5513832" cy="4023360"/>
          </a:xfrm>
          <a:prstGeom prst="rect">
            <a:avLst/>
          </a:prstGeom>
          <a:solidFill>
            <a:srgbClr val="0C1A30"/>
          </a:solidFill>
          <a:ln w="12700">
            <a:solidFill>
              <a:srgbClr val="2035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99632" y="1920240"/>
            <a:ext cx="5184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Inside a rule — your logic, your way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199632" y="2194560"/>
            <a:ext cx="5184648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inside a rule: any algorithm, any shape,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sync or async, 0..N upstreams — your call.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Check: async (cmd, ct) =&gt;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book = await exposure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.GetExposureAsync(cmd.FundId, ct);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tier = cmd.Amount switch {     // branch freely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  5_000_000m =&gt; Tier.Small,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 25_000_000m =&gt; Tier.Mid,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             =&gt; Tier.Large };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cap = Policy.Cap(tier, cmd.AssetClass);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book.CommittedIn(…) + cmd.Amount &lt;= cap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? Result.Success()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new Error("CONCENTRATION", …);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594360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agreement is the shape, not the logic. </a:t>
            </a:r>
            <a:pPr algn="ctr" indent="0" marL="0">
              <a:buNone/>
            </a:pPr>
            <a:r>
              <a:rPr lang="en-US" sz="115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rule (and inside ExecuteAsync) you write whatever the domain needs — same freedom as today, with a structure the team shares and owns.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Functional commands over classic validation chains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SILVER BULLET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tool for the job — what each pattern does best</a:t>
            </a:r>
            <a:endParaRPr lang="en-US" sz="3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697480"/>
                <a:gridCol w="3291840"/>
                <a:gridCol w="171907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job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handled by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Atlas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4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Wire-format shape (required, range, length, regex)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4E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Annotations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4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declarative, auto-run on model binding, shows in OpenAPI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4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DTOs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 a volatile upstream 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4E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Adapter (ports &amp; adapters)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4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seam absorbs a supplier’s change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4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Sources/ adapters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immutable message / intent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4E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4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equality, pattern-match, trivial to construct &amp; 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4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Command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business policy (aggregate + audit)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4E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command + Rule&lt;T&gt;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4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 as values, all in one pass, per-rule trace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4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CommitCapital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lifecycle / legal transitions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4E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+ transition map as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4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 are data, not scattered if/else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4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deal-stage machine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CRUD, no real policy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4E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layered + annotations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4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don’t over-engineer; the team already knows 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4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shape-only endpoints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9893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We’re not proposing “functional everywhere.” </a:t>
            </a:r>
            <a:pPr algn="ctr" indent="0" marL="0">
              <a:buNone/>
            </a:pPr>
            <a:r>
              <a:rPr lang="en-US" sz="115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Data Annotations and adapters where they’re strong; add the command pattern only where async policy + audit demand it — that judgement is the point.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Functional commands over classic validation chains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822960" cy="146304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057400"/>
            <a:ext cx="384048" cy="146304"/>
          </a:xfrm>
          <a:prstGeom prst="rect">
            <a:avLst/>
          </a:prstGeom>
          <a:solidFill>
            <a:srgbClr val="E0A3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957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&amp; trade-offs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3931920"/>
            <a:ext cx="4572000" cy="0"/>
          </a:xfrm>
          <a:prstGeom prst="line">
            <a:avLst/>
          </a:prstGeom>
          <a:noFill/>
          <a:ln w="25400">
            <a:solidFill>
              <a:srgbClr val="1FA9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5660136"/>
            <a:ext cx="1962302" cy="54864"/>
          </a:xfrm>
          <a:prstGeom prst="rect">
            <a:avLst/>
          </a:prstGeom>
          <a:solidFill>
            <a:srgbClr val="2B3F6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806440"/>
            <a:ext cx="1962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problem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76702" y="5660136"/>
            <a:ext cx="1962302" cy="54864"/>
          </a:xfrm>
          <a:prstGeom prst="rect">
            <a:avLst/>
          </a:prstGeom>
          <a:solidFill>
            <a:srgbClr val="2B3F63"/>
          </a:solidFill>
          <a:ln/>
        </p:spPr>
      </p:sp>
      <p:sp>
        <p:nvSpPr>
          <p:cNvPr id="10" name="Text 8"/>
          <p:cNvSpPr/>
          <p:nvPr/>
        </p:nvSpPr>
        <p:spPr>
          <a:xfrm>
            <a:off x="2876702" y="5806440"/>
            <a:ext cx="1962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The classic stack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113325" y="5660136"/>
            <a:ext cx="1962302" cy="54864"/>
          </a:xfrm>
          <a:prstGeom prst="rect">
            <a:avLst/>
          </a:prstGeom>
          <a:solidFill>
            <a:srgbClr val="2B3F63"/>
          </a:solidFill>
          <a:ln/>
        </p:spPr>
      </p:sp>
      <p:sp>
        <p:nvSpPr>
          <p:cNvPr id="12" name="Text 10"/>
          <p:cNvSpPr/>
          <p:nvPr/>
        </p:nvSpPr>
        <p:spPr>
          <a:xfrm>
            <a:off x="5113325" y="5806440"/>
            <a:ext cx="1962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 functional core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49947" y="5660136"/>
            <a:ext cx="1962302" cy="54864"/>
          </a:xfrm>
          <a:prstGeom prst="rect">
            <a:avLst/>
          </a:prstGeom>
          <a:solidFill>
            <a:srgbClr val="2B3F63"/>
          </a:solidFill>
          <a:ln/>
        </p:spPr>
      </p:sp>
      <p:sp>
        <p:nvSpPr>
          <p:cNvPr id="14" name="Text 12"/>
          <p:cNvSpPr/>
          <p:nvPr/>
        </p:nvSpPr>
        <p:spPr>
          <a:xfrm>
            <a:off x="7349947" y="5806440"/>
            <a:ext cx="1962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Pluggable &amp; scalable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586570" y="5660136"/>
            <a:ext cx="1962302" cy="54864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16" name="Text 14"/>
          <p:cNvSpPr/>
          <p:nvPr/>
        </p:nvSpPr>
        <p:spPr>
          <a:xfrm>
            <a:off x="9586570" y="5806440"/>
            <a:ext cx="1962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Proof &amp; trade-offs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 adjectives replaced with figures you can re-measure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5338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74520"/>
            <a:ext cx="82296" cy="1627632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20824"/>
            <a:ext cx="2996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A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2996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to add a rule — 1 new + 1 line; the classic styles edit shared code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67784" y="1874520"/>
            <a:ext cx="345338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67784" y="1874520"/>
            <a:ext cx="82296" cy="1627632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11" name="Text 9"/>
          <p:cNvSpPr/>
          <p:nvPr/>
        </p:nvSpPr>
        <p:spPr>
          <a:xfrm>
            <a:off x="4596384" y="2020824"/>
            <a:ext cx="2996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A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vs 3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4596384" y="2697480"/>
            <a:ext cx="2996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stubs to unit-test a rule vs a chained adapter (rule 6 needs 3 collaborators)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95488" y="1874520"/>
            <a:ext cx="345338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5488" y="1874520"/>
            <a:ext cx="82296" cy="1627632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15" name="Text 13"/>
          <p:cNvSpPr/>
          <p:nvPr/>
        </p:nvSpPr>
        <p:spPr>
          <a:xfrm>
            <a:off x="8324088" y="2020824"/>
            <a:ext cx="2996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1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183 → 30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8324088" y="2697480"/>
            <a:ext cx="2996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LOC: the one validator method vs one rule — 23 branches → ≤5, depth 3 → 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758184"/>
            <a:ext cx="345338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758184"/>
            <a:ext cx="82296" cy="1627632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904488"/>
            <a:ext cx="2996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A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2·10 / 1·4</a:t>
            </a:r>
            <a:endParaRPr lang="en-US" sz="2900" dirty="0"/>
          </a:p>
        </p:txBody>
      </p:sp>
      <p:sp>
        <p:nvSpPr>
          <p:cNvPr id="20" name="Text 18"/>
          <p:cNvSpPr/>
          <p:nvPr/>
        </p:nvSpPr>
        <p:spPr>
          <a:xfrm>
            <a:off x="868680" y="4581144"/>
            <a:ext cx="2996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surfaced per request (scenarios B·C): functional vs the classic chain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67784" y="3758184"/>
            <a:ext cx="345338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67784" y="3758184"/>
            <a:ext cx="82296" cy="1627632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23" name="Text 21"/>
          <p:cNvSpPr/>
          <p:nvPr/>
        </p:nvSpPr>
        <p:spPr>
          <a:xfrm>
            <a:off x="4596384" y="3904488"/>
            <a:ext cx="2996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1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469</a:t>
            </a:r>
            <a:endParaRPr lang="en-US" sz="2900" dirty="0"/>
          </a:p>
        </p:txBody>
      </p:sp>
      <p:sp>
        <p:nvSpPr>
          <p:cNvPr id="24" name="Text 22"/>
          <p:cNvSpPr/>
          <p:nvPr/>
        </p:nvSpPr>
        <p:spPr>
          <a:xfrm>
            <a:off x="4596384" y="4581144"/>
            <a:ext cx="2996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of owned core · 7 files · 0 third-party deps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95488" y="3758184"/>
            <a:ext cx="3453384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95488" y="3758184"/>
            <a:ext cx="82296" cy="1627632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27" name="Text 25"/>
          <p:cNvSpPr/>
          <p:nvPr/>
        </p:nvSpPr>
        <p:spPr>
          <a:xfrm>
            <a:off x="8324088" y="3904488"/>
            <a:ext cx="2996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A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2900" dirty="0"/>
          </a:p>
        </p:txBody>
      </p:sp>
      <p:sp>
        <p:nvSpPr>
          <p:cNvPr id="28" name="Text 26"/>
          <p:cNvSpPr/>
          <p:nvPr/>
        </p:nvSpPr>
        <p:spPr>
          <a:xfrm>
            <a:off x="8324088" y="4581144"/>
            <a:ext cx="2996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green — each rule in isolation, end-to-end &amp; traced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56692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Re-measurable on the spot: </a:t>
            </a:r>
            <a:pPr algn="ctr" indent="0" marL="0">
              <a:buNone/>
            </a:pPr>
            <a:r>
              <a:rPr lang="en-US" sz="120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`dotnet test` · `wc -l` · the four sample runs. The headline is completeness: every breach, every time.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Functional commands over classic validation chains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OPERABILITY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 it survive production? — the questions before sign-off</a:t>
            </a:r>
            <a:endParaRPr lang="en-US" sz="3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78912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concern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is answered — and where it lives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4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upstream failure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Fail-closed; a throwing rule becomes a recorded RULE_THREW error (never hides the others). Retry / circuit-breaker live behind the port.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Per-command deadline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 validation in a linked CancellationTokenSource(timeout) — the token is already threaded into every rule.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Validate-then-execute race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write is the source of truth: ExecuteAsync commits under optimistic concurrency (version check) and rejects on conflict. Validation is the pre-check.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early rule (or a pre-handler step) rejects a forbidden caller before the upstream fan-out.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Emit Activity spans + Meter counters — in-box BCL, not Serilog. DecisionTrace is the audit record; OpenTelemetry is the live telemetry.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&amp; contract versioning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evolve additively (add fields); old DecisionTraces stay readable; nothing breaks on the wire.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94360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0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NOT to reach for this: </a:t>
            </a:r>
            <a:pPr indent="0" marL="0">
              <a:buNone/>
            </a:pPr>
            <a:r>
              <a:rPr lang="en-US" sz="1150" i="1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shape-only CRUD / document metadata — keep DataAnnotations. This pattern earns its keep when validation is async business policy.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Functional commands over classic validation chains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STYLES, ONE CORE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Declarative validators — without a library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5394960" cy="3931920"/>
          </a:xfrm>
          <a:prstGeom prst="rect">
            <a:avLst/>
          </a:prstGeom>
          <a:solidFill>
            <a:srgbClr val="0C1A30"/>
          </a:solidFill>
          <a:ln w="12700">
            <a:solidFill>
              <a:srgbClr val="2035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920240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Classic · one imperative method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194560"/>
            <a:ext cx="5065776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ValidatorFactory: one big Validate(...)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ValidationResult Validate(Input x) {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r = new ValidationResult();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(string.IsNullOrWhiteSpace(x.FundId))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r.AddError("FundId required");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(x.Amount &lt;= 0)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r.AddError("Amount must be &gt; 0");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…+ 6 more rules, nested ifs, ordering traps…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55080" y="1810512"/>
            <a:ext cx="5193792" cy="3931920"/>
          </a:xfrm>
          <a:prstGeom prst="rect">
            <a:avLst/>
          </a:prstGeom>
          <a:solidFill>
            <a:srgbClr val="0C1A30"/>
          </a:solidFill>
          <a:ln w="12700">
            <a:solidFill>
              <a:srgbClr val="2035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9672" y="1920240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Atlas · owned Spec&lt;T&gt; — no library, async-native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19672" y="2194560"/>
            <a:ext cx="4864608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…Commands.Core;  // yours, ~470 LOC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sealed class CommitCapitalSpec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Spec&lt;CommitCapitalCommand&gt; {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CommitCapitalSpec(IUpstream up,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DateOnly today) {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RuleFor(x =&gt; x.Currency).Length(3);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RuleFor(x =&gt; x.Amount).GreaterThan(0m);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RuleFor(x =&gt; x.CommitmentDate)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.Must(d =&gt; d &gt;= today, "DATE_IN_PAST", …);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async is first-class — and every rule is traced: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Add(CommitCapitalRules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.FundMustBeOpen(up.Funds));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58978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declarative readability — on the owned ~470-line core.</a:t>
            </a:r>
            <a:pPr algn="ctr" indent="0" marL="0">
              <a:buNone/>
            </a:pPr>
            <a:r>
              <a:rPr lang="en-US" sz="120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Async-native, and every rule still flows into the Validator + DecisionTrace. No FluentValidation, no library.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Functional commands over classic validation chains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TESTABILITY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one rule — fake five clients, or write four lines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440680" cy="3611880"/>
          </a:xfrm>
          <a:prstGeom prst="rect">
            <a:avLst/>
          </a:prstGeom>
          <a:solidFill>
            <a:srgbClr val="0C1A30"/>
          </a:solidFill>
          <a:ln w="12700">
            <a:solidFill>
              <a:srgbClr val="2035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847088"/>
            <a:ext cx="5111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Classic · whole service, full fake upstream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121408"/>
            <a:ext cx="5111496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Classic: rule 5 isn’t a unit — you build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service over a full fake upstream: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up = new FakeUpstream {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Funds = open, Deals = ok,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CoInvestments = noHeadroom,        // the one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Appetite = lim, Exposure = ex };   // under test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svc = new CommitCapitalService(up);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 = await svc.ValidateAndCommitAsync(req);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then dig through a List&lt;string&gt;: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Assert.Contains(r.Errors, m =&gt;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m.Contains("headroom"));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0" y="1737360"/>
            <a:ext cx="5148072" cy="3611880"/>
          </a:xfrm>
          <a:prstGeom prst="rect">
            <a:avLst/>
          </a:prstGeom>
          <a:solidFill>
            <a:srgbClr val="0C1A30"/>
          </a:solidFill>
          <a:ln w="12700">
            <a:solidFill>
              <a:srgbClr val="2035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65392" y="1847088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Functional · one rule, one 4-line stub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65392" y="2121408"/>
            <a:ext cx="4818888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Functional: the entire “mock” — no Moq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sealed class StubCoInv(CoInvestmentNode? n)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ICoInvestmentClient {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Task&lt;CoInvestmentNode?&gt; GetNodeAsync(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id, CancellationToken ct = default)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=&gt; Task.FromResult(n); }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[Fact] public async Task Fails_no_headroom(){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rule = CoInvestmentMustHaveHeadroom(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new StubCoInv(shortNode));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r = await rule.Check(Cmd(), default);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Assert.Equal("COINVEST_NO_HEADROOM",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r.Errors[0].Code); 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5532120"/>
            <a:ext cx="1090879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5532120"/>
            <a:ext cx="82296" cy="868680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605272"/>
            <a:ext cx="10360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needs only its own port → its stub is four lines. </a:t>
            </a:r>
            <a:pPr indent="0" marL="0">
              <a:buNone/>
            </a:pPr>
            <a:r>
              <a:rPr lang="en-US" sz="115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mock library, no layered fixtures — the same anti-coupling principle, applied to tests. </a:t>
            </a:r>
            <a:pPr indent="0" marL="0">
              <a:buNone/>
            </a:pPr>
            <a:r>
              <a:rPr lang="en-US" sz="1150" b="1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green.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Functional commands over classic validation chains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BACKING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Microsoft — and Uncle Bob — back this</a:t>
            </a:r>
            <a:endParaRPr lang="en-US" sz="3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55648"/>
          <a:ext cx="10908792" cy="914400"/>
        </p:xfrm>
        <a:graphic>
          <a:graphicData uri="http://schemas.openxmlformats.org/drawingml/2006/table">
            <a:tbl>
              <a:tblPr/>
              <a:tblGrid>
                <a:gridCol w="6903720"/>
                <a:gridCol w="400507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Learn guidance (verbatim)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Atlas does 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43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"infrastructure and implementation details depend on the Application Core … the Application Core has no dependencies … very easy to write automated unit tests."  — Clean Architecture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owned Core + Ports / Sources / Composition; a rule is tested with a one-line stub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N-layer: "the BLL … is dependent on data access implementation details … Testing business logic … is often difficult, requiring a test database."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inverted: rules depend on ports, never on CRM or a database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"new behavior [implemented] as new classes, rather than … adding responsibility … Adding new classes is always safer than changing existing classes."  — Single Responsibility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rule = +1 file, +1 line; nothing existing changes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162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 specific command handler class for each command … the application layer must only coordinate … must not hold … domain state."  — CQRS / DDD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CommandHandler&lt;,&gt;: validate → execute; the logic lives in rules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Microsoft’s documented recommendation for maintainable .NET </a:t>
            </a:r>
            <a:pPr algn="ctr" indent="0" marL="0">
              <a:buNone/>
            </a:pPr>
            <a:r>
              <a:rPr lang="en-US" sz="110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(records over attribute-decorated DTOs, too — "persistence ignorance"). Same shapes, no libraries — and R.C. Martin’s “Functional Design” + “The Clean Coder” argue the same: FP + SOLID + TDD scale.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Functional commands over classic validation chains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TRADE-OFFS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adopting this costs — and why we think it's worth it</a:t>
            </a:r>
            <a:endParaRPr lang="en-US" sz="3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55648"/>
          <a:ext cx="10908792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597103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cost (real)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we think it's worth 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4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9A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curve — Result / rules is new to an OO team; smaller hiring pool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plain C#; the core is ~470 lines read in an afternoon; a rule is simpler than the ~180-line method it replaces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9A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own the framework — no vendor to file bugs against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~470 lines, fully tested; you'd own a FluentValidation / MediatR wrapper anyway — and carry zero new CVE / supply-chain surface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9A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concepts up front — Command · Result · Rule · Spec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overkill for shape-only CRUD — keep DataAnnotations there; this earns its keep on async business policy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9A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Up-front structure — you design the seams first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little more ceremony for the first slice; it pays back on every slice after, as the app grows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9A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ready examples than mainstream MVC + EF + FluentValidation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pattern itself is mainstream (Microsoft + Clean Architecture); this repo is the team's worked template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9A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Discipline required — two rule styles can fragment; no silver bullet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agreed style per area, enforced in review; the DecisionTrace makes drift visible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9893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selling a silver bullet — these are the real costs. For shape-only CRUD the classic stack is fine; for Atlas's async, ever-changing policy the flexibility, traceability and modularity outweigh them.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Functional commands over classic validation chains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grow for 5+ years — without coupling to a single package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975104" cy="960120"/>
          </a:xfrm>
          <a:prstGeom prst="roundRect">
            <a:avLst>
              <a:gd name="adj" fmla="val 6667"/>
            </a:avLst>
          </a:prstGeom>
          <a:solidFill>
            <a:srgbClr val="1B3460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2194560"/>
            <a:ext cx="1865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Upstreams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CRM·DMS·Ledger·PolicyHub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15184" y="2674620"/>
            <a:ext cx="1002792" cy="0"/>
          </a:xfrm>
          <a:prstGeom prst="line">
            <a:avLst/>
          </a:prstGeom>
          <a:noFill/>
          <a:ln w="25400">
            <a:solidFill>
              <a:srgbClr val="6E83A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617976" y="2194560"/>
            <a:ext cx="1975104" cy="960120"/>
          </a:xfrm>
          <a:prstGeom prst="roundRect">
            <a:avLst>
              <a:gd name="adj" fmla="val 6667"/>
            </a:avLst>
          </a:prstGeom>
          <a:solidFill>
            <a:srgbClr val="1B3460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72840" y="2194560"/>
            <a:ext cx="1865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contracts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93080" y="2674620"/>
            <a:ext cx="1002792" cy="0"/>
          </a:xfrm>
          <a:prstGeom prst="line">
            <a:avLst/>
          </a:prstGeom>
          <a:noFill/>
          <a:ln w="25400">
            <a:solidFill>
              <a:srgbClr val="6E83A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595872" y="2194560"/>
            <a:ext cx="1975104" cy="960120"/>
          </a:xfrm>
          <a:prstGeom prst="roundRect">
            <a:avLst>
              <a:gd name="adj" fmla="val 6667"/>
            </a:avLst>
          </a:prstGeom>
          <a:solidFill>
            <a:srgbClr val="1FA97A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50736" y="2194560"/>
            <a:ext cx="1865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+ Rules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6F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core, no libs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70976" y="2674620"/>
            <a:ext cx="1002792" cy="0"/>
          </a:xfrm>
          <a:prstGeom prst="line">
            <a:avLst/>
          </a:prstGeom>
          <a:noFill/>
          <a:ln w="25400">
            <a:solidFill>
              <a:srgbClr val="6E83A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573768" y="2194560"/>
            <a:ext cx="1975104" cy="960120"/>
          </a:xfrm>
          <a:prstGeom prst="roundRect">
            <a:avLst>
              <a:gd name="adj" fmla="val 6667"/>
            </a:avLst>
          </a:prstGeom>
          <a:solidFill>
            <a:srgbClr val="1B3460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28632" y="2194560"/>
            <a:ext cx="1865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thin, result-based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2377440" cy="566928"/>
          </a:xfrm>
          <a:prstGeom prst="roundRect">
            <a:avLst>
              <a:gd name="adj" fmla="val 50000"/>
            </a:avLst>
          </a:prstGeom>
          <a:solidFill>
            <a:srgbClr val="1B3460"/>
          </a:solidFill>
          <a:ln w="15240">
            <a:solidFill>
              <a:srgbClr val="1FA9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204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A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Configurable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83864" y="3520440"/>
            <a:ext cx="2377440" cy="566928"/>
          </a:xfrm>
          <a:prstGeom prst="roundRect">
            <a:avLst>
              <a:gd name="adj" fmla="val 50000"/>
            </a:avLst>
          </a:prstGeom>
          <a:solidFill>
            <a:srgbClr val="1B3460"/>
          </a:solidFill>
          <a:ln w="15240">
            <a:solidFill>
              <a:srgbClr val="1FA9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83864" y="35204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A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Testable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27648" y="3520440"/>
            <a:ext cx="2377440" cy="566928"/>
          </a:xfrm>
          <a:prstGeom prst="roundRect">
            <a:avLst>
              <a:gd name="adj" fmla="val 50000"/>
            </a:avLst>
          </a:prstGeom>
          <a:solidFill>
            <a:srgbClr val="1B3460"/>
          </a:solidFill>
          <a:ln w="15240">
            <a:solidFill>
              <a:srgbClr val="1FA9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7648" y="35204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A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Loggable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71432" y="3520440"/>
            <a:ext cx="2377440" cy="566928"/>
          </a:xfrm>
          <a:prstGeom prst="roundRect">
            <a:avLst>
              <a:gd name="adj" fmla="val 50000"/>
            </a:avLst>
          </a:prstGeom>
          <a:solidFill>
            <a:srgbClr val="1B3460"/>
          </a:solidFill>
          <a:ln w="15240">
            <a:solidFill>
              <a:srgbClr val="1FA9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71432" y="35204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A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Scalable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4407408"/>
            <a:ext cx="256032" cy="256032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407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4343400"/>
            <a:ext cx="104973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Result-based returns   </a:t>
            </a:r>
            <a:pPr indent="0" marL="0">
              <a:buNone/>
            </a:pPr>
            <a:r>
              <a:rPr lang="en-US" sz="11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are values aggregated into one response — nothing thrown, nothing swallowed.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800600"/>
            <a:ext cx="256032" cy="256032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800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4736592"/>
            <a:ext cx="104973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Asynchronous processing   </a:t>
            </a:r>
            <a:pPr indent="0" marL="0">
              <a:buNone/>
            </a:pPr>
            <a:r>
              <a:rPr lang="en-US" sz="11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async by design — they call upstream directly; no sync-over-async contortions.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5193792"/>
            <a:ext cx="256032" cy="256032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193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51560" y="5129784"/>
            <a:ext cx="104973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Scoped logic   </a:t>
            </a:r>
            <a:pPr indent="0" marL="0">
              <a:buNone/>
            </a:pPr>
            <a:r>
              <a:rPr lang="en-US" sz="11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 = one file = one concern; every change is contained, never rippled.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0080" y="5586984"/>
            <a:ext cx="256032" cy="256032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5586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51560" y="5522976"/>
            <a:ext cx="104973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testing   </a:t>
            </a:r>
            <a:pPr indent="0" marL="0">
              <a:buNone/>
            </a:pPr>
            <a:r>
              <a:rPr lang="en-US" sz="11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rule a pure unit, one stub, no mocking library — 23 tests, each rule alone.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40080" y="5980176"/>
            <a:ext cx="256032" cy="256032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5980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51560" y="5916168"/>
            <a:ext cx="104973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logging   </a:t>
            </a:r>
            <a:pPr indent="0" marL="0">
              <a:buNone/>
            </a:pPr>
            <a:r>
              <a:rPr lang="en-US" sz="11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command emits a structured DecisionTrace — trading-grade audit, no Serilog.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Functional commands over classic validation chains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822960" cy="146304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Atlas on functional commands</a:t>
            </a:r>
            <a:endParaRPr lang="en-US" sz="3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async validation.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becomes our reference app for shipping in an ever-changing data world — built on flexibility, traceability and modularity. Spend our attention on business logic, not on chaining code and nested ifs. Same .NET, no new libraries, fully testable, audit-ready.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709160"/>
            <a:ext cx="10908792" cy="1051560"/>
          </a:xfrm>
          <a:prstGeom prst="rect">
            <a:avLst/>
          </a:prstGeom>
          <a:solidFill>
            <a:srgbClr val="1B3460"/>
          </a:solidFill>
          <a:ln w="12700">
            <a:solidFill>
              <a:srgbClr val="27406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484632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proof:  </a:t>
            </a:r>
            <a:pPr indent="0" marL="0">
              <a:buNone/>
            </a:pPr>
            <a:r>
              <a:rPr lang="en-US" sz="1350" dirty="0">
                <a:solidFill>
                  <a:srgbClr val="CF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test  ·  dotnet run --project src/Atlas.Functional.Commands</a:t>
            </a:r>
            <a:pPr indent="0" marL="0">
              <a:buNone/>
            </a:pPr>
            <a:r>
              <a:rPr lang="en-US" sz="1350" dirty="0">
                <a:solidFill>
                  <a:srgbClr val="8AA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four samples, one operation, 23 green tests.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Functional commands over classic validation chains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Atlas Validation — Lean Cut</dc:title>
  <dc:subject>PptxGenJS Presentation</dc:subject>
  <dc:creator>Atlas Engineering</dc:creator>
  <cp:lastModifiedBy>Atlas Engineering</cp:lastModifiedBy>
  <cp:revision>1</cp:revision>
  <dcterms:created xsi:type="dcterms:W3CDTF">2026-09-04T21:27:53Z</dcterms:created>
  <dcterms:modified xsi:type="dcterms:W3CDTF">2026-09-04T21:27:53Z</dcterms:modified>
</cp:coreProperties>
</file>